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mover o slide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84E65BA-2984-416D-9CC2-3AFB07C3511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E1BC564-D281-4497-8A5D-CECA19171A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8BFA00-2C49-493B-845D-9BEB68EFD9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57FEEB-26D3-4155-85FD-6AA5A537F1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508ED06-2DA2-4634-95B7-F07FA64F9F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2FCCBA-2D50-42DB-BB1F-96B117445D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66E914-6BFE-4123-8BAB-225A184397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F8DF9F-07BA-4E14-995C-703AA35105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565640" cy="502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pt-BR" sz="3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1620360"/>
            <a:ext cx="10565640" cy="442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2.º nível de tópicos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3.º nível de tópicos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4.º nível de tópicos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5.º nível de tópicos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6.º nível de tópicos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7.º nível de tópicos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12880" y="2395080"/>
            <a:ext cx="10882800" cy="1518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5879"/>
              </a:lnSpc>
              <a:buNone/>
              <a:tabLst>
                <a:tab pos="0" algn="l"/>
              </a:tabLst>
            </a:pPr>
            <a:r>
              <a:rPr lang="en-US" sz="5600" b="1" u="none" strike="noStrike">
                <a:solidFill>
                  <a:srgbClr val="F6F4EF"/>
                </a:solidFill>
                <a:effectLst/>
                <a:uFillTx/>
                <a:latin typeface="Arial"/>
                <a:ea typeface="Arial"/>
              </a:rPr>
              <a:t>Sistema de Gestão de Inventário</a:t>
            </a:r>
            <a:endParaRPr lang="pt-BR" sz="5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812880" y="4142880"/>
            <a:ext cx="11378520" cy="3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01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9D1DB"/>
                </a:solidFill>
                <a:effectLst/>
                <a:uFillTx/>
                <a:latin typeface="Arial"/>
                <a:ea typeface="Arial"/>
              </a:rPr>
              <a:t>Dashboard de estatísticas em Vue.js e SASS, alimentado por uma API REST em Spring Boot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3"/>
          <p:cNvSpPr/>
          <p:nvPr/>
        </p:nvSpPr>
        <p:spPr>
          <a:xfrm>
            <a:off x="812880" y="4752360"/>
            <a:ext cx="10882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6B5"/>
                </a:solidFill>
                <a:effectLst/>
                <a:uFillTx/>
                <a:latin typeface="Arial"/>
                <a:ea typeface="Arial"/>
              </a:rPr>
              <a:t>Gustavo Carvalho, Lucas Verissimo, Pedro Marchiotto, Vitor Saviolli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Delimitação do tema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812880" y="1569600"/>
            <a:ext cx="10882800" cy="64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29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D4756"/>
                </a:solidFill>
                <a:effectLst/>
                <a:uFillTx/>
                <a:latin typeface="Arial"/>
                <a:ea typeface="Arial"/>
              </a:rPr>
              <a:t>Aplicação web de gestão de patrimônio com foco na interface: um dashboard que transforma os dados dos bens de uma organização de pequeno porte em estatísticas fáceis de ler.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1620000" y="2444040"/>
            <a:ext cx="3379680" cy="2754000"/>
          </a:xfrm>
          <a:prstGeom prst="roundRect">
            <a:avLst>
              <a:gd name="adj" fmla="val 3573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1800000" y="2700000"/>
            <a:ext cx="29538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7A70"/>
                </a:solidFill>
                <a:effectLst/>
                <a:uFillTx/>
                <a:latin typeface="Arial"/>
                <a:ea typeface="Arial"/>
              </a:rPr>
              <a:t>Inclui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1817280" y="3060000"/>
            <a:ext cx="2862360" cy="189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85000" lnSpcReduction="9999"/>
          </a:bodyPr>
          <a:p>
            <a:pPr marL="170280" indent="-170280" defTabSz="914400">
              <a:lnSpc>
                <a:spcPts val="2100"/>
              </a:lnSpc>
              <a:buClr>
                <a:srgbClr val="16202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Dashboard com KPIs (Indicador-Chave de Desempenho) e gráficos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0280" indent="-170280" defTabSz="914400">
              <a:lnSpc>
                <a:spcPts val="2100"/>
              </a:lnSpc>
              <a:buClr>
                <a:srgbClr val="16202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CRUD de bens, categorias e locais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0280" indent="-170280" defTabSz="914400">
              <a:lnSpc>
                <a:spcPts val="2100"/>
              </a:lnSpc>
              <a:buClr>
                <a:srgbClr val="16202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Busca com filtros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0280" indent="-170280" defTabSz="914400">
              <a:lnSpc>
                <a:spcPts val="2100"/>
              </a:lnSpc>
              <a:buClr>
                <a:srgbClr val="16202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Histórico automático de movimentação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6480000" y="2444040"/>
            <a:ext cx="3379680" cy="2754000"/>
          </a:xfrm>
          <a:prstGeom prst="roundRect">
            <a:avLst>
              <a:gd name="adj" fmla="val 3573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765840" y="2700000"/>
            <a:ext cx="295380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Usuários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677280" y="3075840"/>
            <a:ext cx="286236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170280" indent="-170280" defTabSz="914400">
              <a:lnSpc>
                <a:spcPts val="2100"/>
              </a:lnSpc>
              <a:buClr>
                <a:srgbClr val="16202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Administrador: gerencia e consulta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0280" indent="-170280" defTabSz="914400">
              <a:lnSpc>
                <a:spcPts val="2100"/>
              </a:lnSpc>
              <a:buClr>
                <a:srgbClr val="16202E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Usuário comum: apenas consulta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Objetivo geral e específicos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812880" y="1568520"/>
            <a:ext cx="5175720" cy="3421800"/>
          </a:xfrm>
          <a:prstGeom prst="roundRect">
            <a:avLst>
              <a:gd name="adj" fmla="val 2968"/>
            </a:avLst>
          </a:prstGeom>
          <a:solidFill>
            <a:srgbClr val="162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1117440" y="1873080"/>
            <a:ext cx="4703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Objetivo geral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1117440" y="2274480"/>
            <a:ext cx="470304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6F4EF"/>
                </a:solidFill>
                <a:effectLst/>
                <a:uFillTx/>
                <a:latin typeface="Arial"/>
                <a:ea typeface="Arial"/>
              </a:rPr>
              <a:t>Desenvolver uma interface web em Vue.js para gestão de patrimônio, com foco em um dashboard de estatísticas, consumindo uma API REST em Spring Boot.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6195600" y="1571760"/>
            <a:ext cx="5179680" cy="3415680"/>
          </a:xfrm>
          <a:prstGeom prst="roundRect">
            <a:avLst>
              <a:gd name="adj" fmla="val 2881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6502320" y="1878480"/>
            <a:ext cx="470304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F7A70"/>
                </a:solidFill>
                <a:effectLst/>
                <a:uFillTx/>
                <a:latin typeface="Arial"/>
                <a:ea typeface="Arial"/>
              </a:rPr>
              <a:t>Objetivos específicos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6544440" y="2279520"/>
            <a:ext cx="4653360" cy="24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11680" indent="-211680" defTabSz="914400">
              <a:lnSpc>
                <a:spcPts val="2100"/>
              </a:lnSpc>
              <a:buClr>
                <a:srgbClr val="16202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Implementar na API o CRUD e endpoints de estatísticas agregadas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1680" indent="-211680" defTabSz="914400">
              <a:lnSpc>
                <a:spcPts val="2100"/>
              </a:lnSpc>
              <a:spcBef>
                <a:spcPts val="1191"/>
              </a:spcBef>
              <a:spcAft>
                <a:spcPts val="992"/>
              </a:spcAft>
              <a:buClr>
                <a:srgbClr val="16202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Construir o dashboard com KPIs (Indicador-Chave de Desempenho) e gráficos em Vue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1680" indent="-211680" defTabSz="914400">
              <a:lnSpc>
                <a:spcPts val="2100"/>
              </a:lnSpc>
              <a:buClr>
                <a:srgbClr val="16202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Organizar a interface em componentes reutilizáveis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1680" indent="-211680" defTabSz="914400">
              <a:lnSpc>
                <a:spcPts val="2100"/>
              </a:lnSpc>
              <a:buClr>
                <a:srgbClr val="16202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Padronizar o visual com SCSS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1680" indent="-211680" defTabSz="914400">
              <a:lnSpc>
                <a:spcPts val="2100"/>
              </a:lnSpc>
              <a:buClr>
                <a:srgbClr val="16202E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Registrar automaticamente o histórico de movimentações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Diagrama de caso de uso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9" name=""/>
          <p:cNvPicPr/>
          <p:nvPr/>
        </p:nvPicPr>
        <p:blipFill>
          <a:blip r:embed="rId1"/>
          <a:stretch/>
        </p:blipFill>
        <p:spPr>
          <a:xfrm>
            <a:off x="2160000" y="1702800"/>
            <a:ext cx="7853040" cy="441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Estatísticas no dashboard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1440000" y="1564920"/>
            <a:ext cx="2526480" cy="1134720"/>
          </a:xfrm>
          <a:prstGeom prst="roundRect">
            <a:avLst>
              <a:gd name="adj" fmla="val 8949"/>
            </a:avLst>
          </a:prstGeom>
          <a:solidFill>
            <a:srgbClr val="162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620000" y="1723680"/>
            <a:ext cx="21837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1DB"/>
                </a:solidFill>
                <a:effectLst/>
                <a:uFillTx/>
                <a:latin typeface="Arial"/>
                <a:ea typeface="Arial"/>
              </a:rPr>
              <a:t>Total de bens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1620000" y="2029320"/>
            <a:ext cx="21837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2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150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4"/>
          <p:cNvSpPr/>
          <p:nvPr/>
        </p:nvSpPr>
        <p:spPr>
          <a:xfrm>
            <a:off x="4860000" y="1564920"/>
            <a:ext cx="2526480" cy="1134720"/>
          </a:xfrm>
          <a:prstGeom prst="roundRect">
            <a:avLst>
              <a:gd name="adj" fmla="val 8949"/>
            </a:avLst>
          </a:prstGeom>
          <a:solidFill>
            <a:srgbClr val="162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015880" y="1723680"/>
            <a:ext cx="21837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1DB"/>
                </a:solidFill>
                <a:effectLst/>
                <a:uFillTx/>
                <a:latin typeface="Arial"/>
                <a:ea typeface="Arial"/>
              </a:rPr>
              <a:t>Valor patrimonial total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5015880" y="2029320"/>
            <a:ext cx="21837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2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R$ 150.000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7"/>
          <p:cNvSpPr/>
          <p:nvPr/>
        </p:nvSpPr>
        <p:spPr>
          <a:xfrm>
            <a:off x="8280000" y="1564920"/>
            <a:ext cx="2526480" cy="1134720"/>
          </a:xfrm>
          <a:prstGeom prst="roundRect">
            <a:avLst>
              <a:gd name="adj" fmla="val 8949"/>
            </a:avLst>
          </a:prstGeom>
          <a:solidFill>
            <a:srgbClr val="162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8435880" y="1723680"/>
            <a:ext cx="218376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1DB"/>
                </a:solidFill>
                <a:effectLst/>
                <a:uFillTx/>
                <a:latin typeface="Arial"/>
                <a:ea typeface="Arial"/>
              </a:rPr>
              <a:t>Total de localizações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8435880" y="1997280"/>
            <a:ext cx="21837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2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816120" y="2962440"/>
            <a:ext cx="3413520" cy="1849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4"/>
          <p:cNvSpPr/>
          <p:nvPr/>
        </p:nvSpPr>
        <p:spPr>
          <a:xfrm>
            <a:off x="1020960" y="3167280"/>
            <a:ext cx="30934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Barras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Image 0" descr="Gráfico de barras"/>
          <p:cNvPicPr/>
          <p:nvPr/>
        </p:nvPicPr>
        <p:blipFill>
          <a:blip r:embed="rId1"/>
          <a:stretch/>
        </p:blipFill>
        <p:spPr>
          <a:xfrm>
            <a:off x="1020960" y="3512880"/>
            <a:ext cx="152316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5"/>
          <p:cNvSpPr/>
          <p:nvPr/>
        </p:nvSpPr>
        <p:spPr>
          <a:xfrm>
            <a:off x="1020960" y="4376520"/>
            <a:ext cx="30934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D4756"/>
                </a:solidFill>
                <a:effectLst/>
                <a:uFillTx/>
                <a:latin typeface="Arial"/>
                <a:ea typeface="Arial"/>
              </a:rPr>
              <a:t>Bens por categoria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6"/>
          <p:cNvSpPr/>
          <p:nvPr/>
        </p:nvSpPr>
        <p:spPr>
          <a:xfrm>
            <a:off x="4388760" y="2962440"/>
            <a:ext cx="3413520" cy="1849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4593960" y="3167280"/>
            <a:ext cx="30934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Pizza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1" descr="Gráfico de rosca"/>
          <p:cNvPicPr/>
          <p:nvPr/>
        </p:nvPicPr>
        <p:blipFill>
          <a:blip r:embed="rId2"/>
          <a:stretch/>
        </p:blipFill>
        <p:spPr>
          <a:xfrm>
            <a:off x="4593960" y="3512880"/>
            <a:ext cx="152316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18"/>
          <p:cNvSpPr/>
          <p:nvPr/>
        </p:nvSpPr>
        <p:spPr>
          <a:xfrm>
            <a:off x="4593960" y="4376520"/>
            <a:ext cx="30934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D4756"/>
                </a:solidFill>
                <a:effectLst/>
                <a:uFillTx/>
                <a:latin typeface="Arial"/>
                <a:ea typeface="Arial"/>
              </a:rPr>
              <a:t>Bens por localização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7961760" y="2962440"/>
            <a:ext cx="3413520" cy="1849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8166960" y="3167280"/>
            <a:ext cx="309348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Linha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2" descr="Gráfico de linha"/>
          <p:cNvPicPr/>
          <p:nvPr/>
        </p:nvPicPr>
        <p:blipFill>
          <a:blip r:embed="rId3"/>
          <a:stretch/>
        </p:blipFill>
        <p:spPr>
          <a:xfrm>
            <a:off x="8166960" y="3512880"/>
            <a:ext cx="152316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21"/>
          <p:cNvSpPr/>
          <p:nvPr/>
        </p:nvSpPr>
        <p:spPr>
          <a:xfrm>
            <a:off x="8166960" y="4376520"/>
            <a:ext cx="309348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3D4756"/>
                </a:solidFill>
                <a:effectLst/>
                <a:uFillTx/>
                <a:latin typeface="Arial"/>
                <a:ea typeface="Arial"/>
              </a:rPr>
              <a:t>Movimentações por mês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F6F4EF"/>
                </a:solidFill>
                <a:effectLst/>
                <a:uFillTx/>
                <a:latin typeface="Arial"/>
                <a:ea typeface="Arial"/>
              </a:rPr>
              <a:t>Tecnologias a serem utilizadas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812880" y="1569600"/>
            <a:ext cx="2507400" cy="1660320"/>
          </a:xfrm>
          <a:prstGeom prst="roundRect">
            <a:avLst>
              <a:gd name="adj" fmla="val 6116"/>
            </a:avLst>
          </a:prstGeom>
          <a:solidFill>
            <a:srgbClr val="2230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1066680" y="1823760"/>
            <a:ext cx="20595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Vue 3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1066680" y="2230200"/>
            <a:ext cx="205956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5DCE6"/>
                </a:solidFill>
                <a:effectLst/>
                <a:uFillTx/>
                <a:latin typeface="Arial"/>
                <a:ea typeface="Arial"/>
              </a:rPr>
              <a:t>Componentes, Composition API e Vue Router para as telas.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3498840" y="1569600"/>
            <a:ext cx="2507400" cy="1660320"/>
          </a:xfrm>
          <a:prstGeom prst="roundRect">
            <a:avLst>
              <a:gd name="adj" fmla="val 6116"/>
            </a:avLst>
          </a:prstGeom>
          <a:solidFill>
            <a:srgbClr val="2230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3753000" y="1823760"/>
            <a:ext cx="20595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Chart.js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3753000" y="2230200"/>
            <a:ext cx="20595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5DCE6"/>
                </a:solidFill>
                <a:effectLst/>
                <a:uFillTx/>
                <a:latin typeface="Arial"/>
                <a:ea typeface="Arial"/>
              </a:rPr>
              <a:t>Gráficos do dashboard, via vue-chartjs.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6184800" y="1569600"/>
            <a:ext cx="2507400" cy="1660320"/>
          </a:xfrm>
          <a:prstGeom prst="roundRect">
            <a:avLst>
              <a:gd name="adj" fmla="val 6116"/>
            </a:avLst>
          </a:prstGeom>
          <a:solidFill>
            <a:srgbClr val="2230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6438960" y="1823760"/>
            <a:ext cx="20595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Pinia + Axios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6438960" y="2230200"/>
            <a:ext cx="205956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5DCE6"/>
                </a:solidFill>
                <a:effectLst/>
                <a:uFillTx/>
                <a:latin typeface="Arial"/>
                <a:ea typeface="Arial"/>
              </a:rPr>
              <a:t>Estado compartilhado e consumo da API REST.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8871120" y="1569600"/>
            <a:ext cx="2507400" cy="1660320"/>
          </a:xfrm>
          <a:prstGeom prst="roundRect">
            <a:avLst>
              <a:gd name="adj" fmla="val 6116"/>
            </a:avLst>
          </a:prstGeom>
          <a:solidFill>
            <a:srgbClr val="2230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1"/>
          <p:cNvSpPr/>
          <p:nvPr/>
        </p:nvSpPr>
        <p:spPr>
          <a:xfrm>
            <a:off x="9124920" y="1823760"/>
            <a:ext cx="2059560" cy="3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SCSS (Sass)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9124920" y="2230200"/>
            <a:ext cx="2059560" cy="77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5DCE6"/>
                </a:solidFill>
                <a:effectLst/>
                <a:uFillTx/>
                <a:latin typeface="Arial"/>
                <a:ea typeface="Arial"/>
              </a:rPr>
              <a:t>Variáveis, partials e mixins para um tema único.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3"/>
          <p:cNvSpPr/>
          <p:nvPr/>
        </p:nvSpPr>
        <p:spPr>
          <a:xfrm>
            <a:off x="812880" y="3484800"/>
            <a:ext cx="1088280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9A23B"/>
                </a:solidFill>
                <a:effectLst/>
                <a:uFillTx/>
                <a:latin typeface="Arial"/>
                <a:ea typeface="Arial"/>
              </a:rPr>
              <a:t>Back-end:</a:t>
            </a:r>
            <a:r>
              <a:rPr lang="en-US" sz="1500" b="0" u="none" strike="noStrike">
                <a:solidFill>
                  <a:srgbClr val="C9D1DB"/>
                </a:solidFill>
                <a:effectLst/>
                <a:uFillTx/>
                <a:latin typeface="Arial"/>
                <a:ea typeface="Arial"/>
              </a:rPr>
              <a:t> Spring Boot (Web e Data JPA) expondo o CRUD e endpoints agregados, como </a:t>
            </a:r>
            <a:r>
              <a:rPr lang="en-US" sz="1500" b="0" i="1" u="none" strike="noStrike">
                <a:solidFill>
                  <a:srgbClr val="C9D1DB"/>
                </a:solidFill>
                <a:effectLst/>
                <a:uFillTx/>
                <a:latin typeface="Arial"/>
                <a:ea typeface="Arial"/>
              </a:rPr>
              <a:t>/api/estatisticas</a:t>
            </a:r>
            <a:r>
              <a:rPr lang="en-US" sz="1500" b="0" u="none" strike="noStrike">
                <a:solidFill>
                  <a:srgbClr val="C9D1DB"/>
                </a:solidFill>
                <a:effectLst/>
                <a:uFillTx/>
                <a:latin typeface="Arial"/>
                <a:ea typeface="Arial"/>
              </a:rPr>
              <a:t>, com banco MySQL.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12880" y="812880"/>
            <a:ext cx="10882800" cy="52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ts val="396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Sistemas similares</a:t>
            </a:r>
            <a:endParaRPr lang="pt-B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816120" y="1623600"/>
            <a:ext cx="5174640" cy="1849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1122840" y="1930320"/>
            <a:ext cx="4698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F7A70"/>
                </a:solidFill>
                <a:effectLst/>
                <a:uFillTx/>
                <a:latin typeface="Arial"/>
                <a:ea typeface="Arial"/>
              </a:rPr>
              <a:t>Snipe-IT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1122840" y="2367360"/>
            <a:ext cx="469800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Sistema open source de gestão de ativos, voltado principalmente a equipamentos de TI, com controle de responsável e histórico.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6200640" y="1623600"/>
            <a:ext cx="5174640" cy="184968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6507360" y="1930320"/>
            <a:ext cx="469800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639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F7A70"/>
                </a:solidFill>
                <a:effectLst/>
                <a:uFillTx/>
                <a:latin typeface="Arial"/>
                <a:ea typeface="Arial"/>
              </a:rPr>
              <a:t>GLPI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6507360" y="2367360"/>
            <a:ext cx="4698000" cy="8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6202E"/>
                </a:solidFill>
                <a:effectLst/>
                <a:uFillTx/>
                <a:latin typeface="Arial"/>
                <a:ea typeface="Arial"/>
              </a:rPr>
              <a:t>Plataforma de gestão de serviços de TI que inclui inventário de equipamentos, muito usada em órgãos públicos e empresas.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812880" y="3782160"/>
            <a:ext cx="1088280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381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B5700F"/>
                </a:solidFill>
                <a:effectLst/>
                <a:uFillTx/>
                <a:latin typeface="Arial"/>
                <a:ea typeface="Arial"/>
              </a:rPr>
              <a:t>Nosso diferencial:</a:t>
            </a:r>
            <a:r>
              <a:rPr lang="en-US" sz="1700" b="0" u="none" strike="noStrike">
                <a:solidFill>
                  <a:srgbClr val="3D4756"/>
                </a:solidFill>
                <a:effectLst/>
                <a:uFillTx/>
                <a:latin typeface="Arial"/>
                <a:ea typeface="Arial"/>
              </a:rPr>
              <a:t> escopo enxuto, qualquer tipo de bem e um dashboard simples de ler.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stema de Gestão de Patrimônio">
  <a:themeElements>
    <a:clrScheme name="Sistema de Gestão de Patrimônio">
      <a:dk1>
        <a:srgbClr val="16202E"/>
      </a:dk1>
      <a:lt1>
        <a:srgbClr val="F6F4EF"/>
      </a:lt1>
      <a:dk2>
        <a:srgbClr val="4E555E"/>
      </a:dk2>
      <a:lt2>
        <a:srgbClr val="E0DFDC"/>
      </a:lt2>
      <a:accent1>
        <a:srgbClr val="E9A23B"/>
      </a:accent1>
      <a:accent2>
        <a:srgbClr val="1F7A70"/>
      </a:accent2>
      <a:accent3>
        <a:srgbClr val="B5700F"/>
      </a:accent3>
      <a:accent4>
        <a:srgbClr val="C9D1DB"/>
      </a:accent4>
      <a:accent5>
        <a:srgbClr val="3D4756"/>
      </a:accent5>
      <a:accent6>
        <a:srgbClr val="D5DCE6"/>
      </a:accent6>
      <a:hlink>
        <a:srgbClr val="0563C1"/>
      </a:hlink>
      <a:folHlink>
        <a:srgbClr val="954F72"/>
      </a:folHlink>
    </a:clrScheme>
    <a:fontScheme name="Sistema de Gestão de Patrimônio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2026-10-08T02:45:38Z</dcterms:created>
  <dc:creator/>
  <dc:description/>
  <dc:language>pt-BR</dc:language>
  <cp:lastModifiedBy/>
  <dcterms:modified xsi:type="dcterms:W3CDTF">2026-10-08T10:05:36Z</dcterms:modified>
  <cp:revision>4</cp:revision>
  <dc:subject/>
  <dc:title>Sistema de Gestão de Patrimônio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